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5b19769-fc23-fc22-11cc-dda26bac7b10}">
          <p14:sldIdLst>
            <p14:sldId id="256"/>
            <p14:sldId id="257"/>
            <p14:sldId id="258"/>
          </p14:sldIdLst>
        </p14:section>
        <p14:section name="01 Problem, data, split" id="{4395414c-2b2b-021d-d049-8d90210bf0be}">
          <p14:sldIdLst>
            <p14:sldId id="259"/>
            <p14:sldId id="260"/>
          </p14:sldIdLst>
        </p14:section>
        <p14:section name="02 EDA, preprocessing" id="{ece8aa0f-caa2-775b-6476-53ce143acb8f}">
          <p14:sldIdLst>
            <p14:sldId id="261"/>
            <p14:sldId id="262"/>
          </p14:sldIdLst>
        </p14:section>
        <p14:section name="03 Features, selection" id="{0c86be5e-833e-3f39-20f5-3fbf36fb2f82}">
          <p14:sldIdLst>
            <p14:sldId id="263"/>
            <p14:sldId id="264"/>
          </p14:sldIdLst>
        </p14:section>
        <p14:section name="04 Baselines, model selection" id="{704bd19b-0edb-99b0-603c-1d01e78201e0}">
          <p14:sldIdLst>
            <p14:sldId id="265"/>
            <p14:sldId id="266"/>
          </p14:sldIdLst>
        </p14:section>
        <p14:section name="05 Gradient boosting, evaluation" id="{cca1cb34-0ffa-09e5-7213-cb308120bac6}">
          <p14:sldIdLst>
            <p14:sldId id="267"/>
            <p14:sldId id="268"/>
            <p14:sldId id="269"/>
            <p14:sldId id="270"/>
            <p14:sldId id="271"/>
          </p14:sldIdLst>
        </p14:section>
        <p14:section name="Decisions and outcomes" id="{4855e00f-9970-b3eb-9eb9-0e15236de4e2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lose" id="{1d3de62f-ba72-f2ec-e77c-f04dde3e1111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Logistic regression PR AUC as groups are added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+ schedule</c:v>
                  </c:pt>
                  <c:pt idx="1">
                    <c:v>+ calendar</c:v>
                  </c:pt>
                  <c:pt idx="2">
                    <c:v>+ aircraft</c:v>
                  </c:pt>
                  <c:pt idx="3">
                    <c:v>+ congestion</c:v>
                  </c:pt>
                  <c:pt idx="4">
                    <c:v>+ history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0.1918</c:v>
                </c:pt>
                <c:pt idx="1">
                  <c:v>0.2055</c:v>
                </c:pt>
                <c:pt idx="2">
                  <c:v>0.2027</c:v>
                </c:pt>
                <c:pt idx="3">
                  <c:v>0.2095</c:v>
                </c:pt>
                <c:pt idx="4">
                  <c:v>0.261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October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+ schedule</c:v>
                  </c:pt>
                  <c:pt idx="1">
                    <c:v>+ calendar</c:v>
                  </c:pt>
                  <c:pt idx="2">
                    <c:v>+ aircraft</c:v>
                  </c:pt>
                  <c:pt idx="3">
                    <c:v>+ congestion</c:v>
                  </c:pt>
                  <c:pt idx="4">
                    <c:v>+ history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0.2363</c:v>
                </c:pt>
                <c:pt idx="1">
                  <c:v>0.2727</c:v>
                </c:pt>
                <c:pt idx="2">
                  <c:v>0.2786</c:v>
                </c:pt>
                <c:pt idx="3">
                  <c:v>0.3044</c:v>
                </c:pt>
                <c:pt idx="4">
                  <c:v>0.3065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4A556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0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6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556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PR AUC by selection method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September (selection month)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all features</c:v>
                  </c:pt>
                  <c:pt idx="1">
                    <c:v>filter: top 10 by MI</c:v>
                  </c:pt>
                  <c:pt idx="2">
                    <c:v>VIF pruning (&lt;= 10)</c:v>
                  </c:pt>
                  <c:pt idx="3">
                    <c:v>wrapper: SFS (12)</c:v>
                  </c:pt>
                  <c:pt idx="4">
                    <c:v>L1, C=0.002</c:v>
                  </c:pt>
                  <c:pt idx="5">
                    <c:v>PCA (24)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0.261</c:v>
                </c:pt>
                <c:pt idx="1">
                  <c:v>0.2396</c:v>
                </c:pt>
                <c:pt idx="2">
                  <c:v>0.2558</c:v>
                </c:pt>
                <c:pt idx="3">
                  <c:v>0.2789</c:v>
                </c:pt>
                <c:pt idx="4">
                  <c:v>0.2569</c:v>
                </c:pt>
                <c:pt idx="5">
                  <c:v>0.2677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October (honest check)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all features</c:v>
                  </c:pt>
                  <c:pt idx="1">
                    <c:v>filter: top 10 by MI</c:v>
                  </c:pt>
                  <c:pt idx="2">
                    <c:v>VIF pruning (&lt;= 10)</c:v>
                  </c:pt>
                  <c:pt idx="3">
                    <c:v>wrapper: SFS (12)</c:v>
                  </c:pt>
                  <c:pt idx="4">
                    <c:v>L1, C=0.002</c:v>
                  </c:pt>
                  <c:pt idx="5">
                    <c:v>PCA (24)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0.3065</c:v>
                </c:pt>
                <c:pt idx="1">
                  <c:v>0.2634</c:v>
                </c:pt>
                <c:pt idx="2">
                  <c:v>0.3016</c:v>
                </c:pt>
                <c:pt idx="3">
                  <c:v>0.2812</c:v>
                </c:pt>
                <c:pt idx="4">
                  <c:v>0.302</c:v>
                </c:pt>
                <c:pt idx="5">
                  <c:v>0.2919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4A556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6"/>
          <c:min val="0"/>
        </c:scaling>
        <c:delete val="0"/>
        <c:axPos val="b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6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556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Baseline PR AUC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Majority class</c:v>
                  </c:pt>
                  <c:pt idx="1">
                    <c:v>Flight's 28-day rate</c:v>
                  </c:pt>
                  <c:pt idx="2">
                    <c:v>Scheduled hour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0.1372</c:v>
                </c:pt>
                <c:pt idx="1">
                  <c:v>0.1897</c:v>
                </c:pt>
                <c:pt idx="2">
                  <c:v>0.1883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October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Majority class</c:v>
                  </c:pt>
                  <c:pt idx="1">
                    <c:v>Flight's 28-day rate</c:v>
                  </c:pt>
                  <c:pt idx="2">
                    <c:v>Scheduled hour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0.1756</c:v>
                </c:pt>
                <c:pt idx="1">
                  <c:v>0.2692</c:v>
                </c:pt>
                <c:pt idx="2">
                  <c:v>0.2286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4A556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6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556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PR AUC per rolling month (fixed settings)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Gradient boosting (untuned)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0.5566</c:v>
                </c:pt>
                <c:pt idx="1">
                  <c:v>0.4856</c:v>
                </c:pt>
                <c:pt idx="2">
                  <c:v>0.5542</c:v>
                </c:pt>
                <c:pt idx="3">
                  <c:v>0.5591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</c:v>
                </c:pt>
              </c:strCache>
            </c:strRef>
          </c:tx>
          <c:spPr>
            <a:solidFill>
              <a:srgbClr val="5B7B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Gradient boosting (untuned)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0.4058</c:v>
                </c:pt>
                <c:pt idx="1">
                  <c:v>0.3535</c:v>
                </c:pt>
                <c:pt idx="2">
                  <c:v>0.3887</c:v>
                </c:pt>
                <c:pt idx="3">
                  <c:v>0.3692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Gradient boosting (untuned)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0.2624</c:v>
                </c:pt>
                <c:pt idx="1">
                  <c:v>0.1446</c:v>
                </c:pt>
                <c:pt idx="2">
                  <c:v>0.2157</c:v>
                </c:pt>
                <c:pt idx="3">
                  <c:v>0.1695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A556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6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556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Same XGBoost configuration, two protocols (PR AUC)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Early-stop on the scored month</c:v>
                </c:pt>
              </c:strCache>
            </c:strRef>
          </c:tx>
          <c:spPr>
            <a:solidFill>
              <a:srgbClr val="7A869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Mean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0.5709</c:v>
                </c:pt>
                <c:pt idx="1">
                  <c:v>0.3923</c:v>
                </c:pt>
                <c:pt idx="2">
                  <c:v>0.242</c:v>
                </c:pt>
                <c:pt idx="3">
                  <c:v>0.4017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Honest: stop on m−1, refit, score m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Mean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0.5449</c:v>
                </c:pt>
                <c:pt idx="1">
                  <c:v>0.3757</c:v>
                </c:pt>
                <c:pt idx="2">
                  <c:v>0.2246</c:v>
                </c:pt>
                <c:pt idx="3">
                  <c:v>0.3817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4A556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6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556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October PR AUC as feature groups are added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Gradient boosting (nb 05)</c:v>
                </c:pt>
              </c:strCache>
            </c:strRef>
          </c:tx>
          <c:spPr>
            <a:solidFill>
              <a:srgbClr val="F2A900"/>
            </a:solidFill>
            <a:ln w="25400" cap="flat">
              <a:solidFill>
                <a:srgbClr val="F2A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A900"/>
              </a:solidFill>
              <a:ln w="9525" cap="flat">
                <a:solidFill>
                  <a:srgbClr val="F2A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+ schedule</c:v>
                  </c:pt>
                  <c:pt idx="1">
                    <c:v>+ calendar</c:v>
                  </c:pt>
                  <c:pt idx="2">
                    <c:v>+ aircraft</c:v>
                  </c:pt>
                  <c:pt idx="3">
                    <c:v>+ congestion</c:v>
                  </c:pt>
                  <c:pt idx="4">
                    <c:v>+ history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0.2747</c:v>
                </c:pt>
                <c:pt idx="1">
                  <c:v>0.3029</c:v>
                </c:pt>
                <c:pt idx="2">
                  <c:v>0.3035</c:v>
                </c:pt>
                <c:pt idx="3">
                  <c:v>0.2911</c:v>
                </c:pt>
                <c:pt idx="4">
                  <c:v>0.2643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Logistic regression (nb 03)</c:v>
                </c:pt>
              </c:strCache>
            </c:strRef>
          </c:tx>
          <c:spPr>
            <a:solidFill>
              <a:srgbClr val="0B1F3A"/>
            </a:solidFill>
            <a:ln w="25400" cap="flat">
              <a:solidFill>
                <a:srgbClr val="0B1F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B1F3A"/>
              </a:solidFill>
              <a:ln w="9525" cap="flat">
                <a:solidFill>
                  <a:srgbClr val="0B1F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+ schedule</c:v>
                  </c:pt>
                  <c:pt idx="1">
                    <c:v>+ calendar</c:v>
                  </c:pt>
                  <c:pt idx="2">
                    <c:v>+ aircraft</c:v>
                  </c:pt>
                  <c:pt idx="3">
                    <c:v>+ congestion</c:v>
                  </c:pt>
                  <c:pt idx="4">
                    <c:v>+ history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0.2363</c:v>
                </c:pt>
                <c:pt idx="1">
                  <c:v>0.2727</c:v>
                </c:pt>
                <c:pt idx="2">
                  <c:v>0.2786</c:v>
                </c:pt>
                <c:pt idx="3">
                  <c:v>0.3044</c:v>
                </c:pt>
                <c:pt idx="4">
                  <c:v>0.3065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A556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0.2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6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4A556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Rishik: introduce the team and the question. We predict at 05:00 on the day of travel whether a New York departure will arrive 15+ minutes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Rishik: the answer first. Hybrid 0.403, logistic regression 0.403, boosting 0.390; planner's rule 0.369; random 0.258. The CIs overlap heavily, so we claim no winner among learned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Rishik: explain the order of work. Each notebook builds on the modules pushed before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Rishik: classification because the decision is yes/no and BTS uses 15 minutes. 05:00 because ~3% of the previous day's flights land after midnight. Cancelled flights have no label; we do not invent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Rishik: the split. Train 2013-01-15–2013-08-31, valid September, calibration October, test November–December once. Monthly delay rate moves from 0.137 to 0.336: this base-rate shift comes back in every later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Praneeth: aircraft year missing 17.47% — MQ 95.1%, AA 69.5%. Systematic, so impute + indicator. Keep outliers. No duplicates.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Praneeth: ACF lag 1 0.343, PACF cuts off after lag 1, lag 7 0.008. So a 1-day window and day-of-week features. Decision 14: one-hot for linear models, ordinal codes for trees, native categoricals in XGBoost.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Srikar: 41 numeric features in five groups. History is the big September jump, but in October calendar and congestion matter more. Leakage tests: Leakage tests pass (2 passed in 7.08s); no post-departure column is a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Srikar: SFS looked best on September (0.279) — the month it chose on — and lost on October (0.281 vs 0.306). That is selection over-fitting.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Sami: baselines first. Gradient = Xᵀ(σ(Xw) − y)/n + λw. Batch GD matches scikit-learn to the fourth decimal. Learning rate 8 diverges. Decision 23: C = 0.001 chosen on September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Sami: a deep tree memorises (train 1.0). On three rolling months LR is best; untuned XGBoost loses to it — so boosting has to earn its place through honest tuning in notebook 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Mani Kanta: boosting fits trees to r = y − p. Our from-scratch version equals scikit-learn. Then the trap: early-stopping on the month you report is optimistic. All tuning uses the honest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Mani Kanta: random search over 8 configurations; best lr 0.03, depth 3. Shallow trees win. The tree count swings between folds — the structure that transfers is not stable. The hybrid starts from LR's logit and adds corrections.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Mani Kanta: compare PR AUC and the intervals together. They overlap heavily: no winner. Platt helped boosting's calibration but slightly hurt LR and the hybrid, which were already calibrated.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Mani Kanta: the delay rate rose from 0.176 in October to 0.258 in the test months, so a score cut-off fixed in October lands in a different place. Out of every 1,000 flights the model hands over a few dozen, about half really late — roughly twice what a random list of the same size would catch.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Mani Kanta: on October, adding congestion and then history lowers boosting while LR keeps gaining. Trees split on absolute rate levels from a high-delay summer. Note: the two lines use different training windows (LR Jan–Aug, boosting Jan–Sep).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All: one line per decision, grouped by outcome. The full log with evidence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Read-ahead slide: every decision with the evidence from the saved results. The report's appendix also gives the reason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Read-ahead slide: every decision with the evidence from the saved results. The report's appendix also gives the reason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Read-ahead slide: every decision with the evidence from the saved results. The report's appendix also gives the reason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Read-ahead slide: every decision with the evidence from the saved results. The report's appendix also gives the reason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Rishik: honest limitations. None of them touches the one-time test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Rishik: conclusion and Phase 2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All: each person's work is in their own commits.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T107 · Flight delay prediction at 05:00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delay prediction at 05:00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against strong baselines · NYC 2013 flights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T107 · Section D · Project 21 · Phase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Rishik · Praneeth · Srikar · Sami · Mani Kanta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learned models beat the baselines; none clearly beats the others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Verdict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Test PR AUC, November–December (used once) · bars = 95% day-block CI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Majority class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2560" y="1901952"/>
            <a:ext cx="219456" cy="219456"/>
          </a:xfrm>
          <a:prstGeom prst="ellipse">
            <a:avLst/>
          </a:prstGeom>
          <a:solidFill>
            <a:srgbClr val="7A8699"/>
          </a:solidFill>
          <a:ln w="19050">
            <a:solidFill>
              <a:srgbClr val="7A86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26528" y="1572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0.258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42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Planner's rule (flight's 28-day rate)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19140" y="2615184"/>
            <a:ext cx="219456" cy="219456"/>
          </a:xfrm>
          <a:prstGeom prst="ellipse">
            <a:avLst/>
          </a:prstGeom>
          <a:solidFill>
            <a:srgbClr val="7A8699"/>
          </a:solidFill>
          <a:ln w="19050">
            <a:solidFill>
              <a:srgbClr val="7A86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108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0.369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552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Logistic regression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00929" y="3438144"/>
            <a:ext cx="2550993" cy="0"/>
          </a:xfrm>
          <a:prstGeom prst="line">
            <a:avLst/>
          </a:prstGeom>
          <a:noFill/>
          <a:ln w="38100">
            <a:solidFill>
              <a:srgbClr val="0B1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27470" y="3328416"/>
            <a:ext cx="219456" cy="219456"/>
          </a:xfrm>
          <a:prstGeom prst="ellipse">
            <a:avLst/>
          </a:prstGeom>
          <a:solidFill>
            <a:srgbClr val="F2A900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71438" y="2999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0.403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684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Gradient boosting (tuned XGBoost)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32426" y="4151376"/>
            <a:ext cx="2736433" cy="0"/>
          </a:xfrm>
          <a:prstGeom prst="line">
            <a:avLst/>
          </a:prstGeom>
          <a:noFill/>
          <a:ln w="38100">
            <a:solidFill>
              <a:srgbClr val="0B1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20780" y="4041648"/>
            <a:ext cx="219456" cy="219456"/>
          </a:xfrm>
          <a:prstGeom prst="ellipse">
            <a:avLst/>
          </a:prstGeom>
          <a:solidFill>
            <a:srgbClr val="F2A900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4748" y="37124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0.390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681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Hybrid (boosting from LR)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827081" y="4864608"/>
            <a:ext cx="2501067" cy="0"/>
          </a:xfrm>
          <a:prstGeom prst="line">
            <a:avLst/>
          </a:prstGeom>
          <a:noFill/>
          <a:ln w="38100">
            <a:solidFill>
              <a:srgbClr val="0B1F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29848" y="4754880"/>
            <a:ext cx="219456" cy="219456"/>
          </a:xfrm>
          <a:prstGeom prst="ellipse">
            <a:avLst/>
          </a:prstGeom>
          <a:solidFill>
            <a:srgbClr val="F2A900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73816" y="44256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0.403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06240" y="5349240"/>
            <a:ext cx="7132320" cy="0"/>
          </a:xfrm>
          <a:prstGeom prst="line">
            <a:avLst/>
          </a:prstGeom>
          <a:noFill/>
          <a:ln w="12700">
            <a:solidFill>
              <a:srgbClr val="7A86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5349240"/>
            <a:ext cx="0" cy="73152"/>
          </a:xfrm>
          <a:prstGeom prst="line">
            <a:avLst/>
          </a:prstGeom>
          <a:noFill/>
          <a:ln w="12700">
            <a:solidFill>
              <a:srgbClr val="7A86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86200" y="5440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9"/>
                </a:solidFill>
              </a:rPr>
              <a:t>0.20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94960" y="5349240"/>
            <a:ext cx="0" cy="73152"/>
          </a:xfrm>
          <a:prstGeom prst="line">
            <a:avLst/>
          </a:prstGeom>
          <a:noFill/>
          <a:ln w="12700">
            <a:solidFill>
              <a:srgbClr val="7A869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74920" y="5440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9"/>
                </a:solidFill>
              </a:rPr>
              <a:t>0.25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5349240"/>
            <a:ext cx="0" cy="73152"/>
          </a:xfrm>
          <a:prstGeom prst="line">
            <a:avLst/>
          </a:prstGeom>
          <a:noFill/>
          <a:ln w="12700">
            <a:solidFill>
              <a:srgbClr val="7A86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5440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9"/>
                </a:solidFill>
              </a:rPr>
              <a:t>0.30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0" y="5349240"/>
            <a:ext cx="0" cy="73152"/>
          </a:xfrm>
          <a:prstGeom prst="line">
            <a:avLst/>
          </a:prstGeom>
          <a:noFill/>
          <a:ln w="12700">
            <a:solidFill>
              <a:srgbClr val="7A869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52360" y="5440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9"/>
                </a:solidFill>
              </a:rPr>
              <a:t>0.35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961120" y="5349240"/>
            <a:ext cx="0" cy="73152"/>
          </a:xfrm>
          <a:prstGeom prst="line">
            <a:avLst/>
          </a:prstGeom>
          <a:noFill/>
          <a:ln w="12700">
            <a:solidFill>
              <a:srgbClr val="7A869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41080" y="5440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9"/>
                </a:solidFill>
              </a:rPr>
              <a:t>0.40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149840" y="5349240"/>
            <a:ext cx="0" cy="73152"/>
          </a:xfrm>
          <a:prstGeom prst="line">
            <a:avLst/>
          </a:prstGeom>
          <a:noFill/>
          <a:ln w="12700">
            <a:solidFill>
              <a:srgbClr val="7A869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829800" y="5440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9"/>
                </a:solidFill>
              </a:rPr>
              <a:t>0.45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1338560" y="5349240"/>
            <a:ext cx="0" cy="73152"/>
          </a:xfrm>
          <a:prstGeom prst="line">
            <a:avLst/>
          </a:prstGeom>
          <a:noFill/>
          <a:ln w="12700">
            <a:solidFill>
              <a:srgbClr val="7A869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1018520" y="5440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9"/>
                </a:solidFill>
              </a:rPr>
              <a:t>0.50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92342" y="1783080"/>
            <a:ext cx="0" cy="3566160"/>
          </a:xfrm>
          <a:prstGeom prst="line">
            <a:avLst/>
          </a:prstGeom>
          <a:noFill/>
          <a:ln w="12700">
            <a:solidFill>
              <a:srgbClr val="7A8699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5665494" y="5029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</a:rPr>
              <a:t>random = base rate 0.258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1F3A"/>
                </a:solidFill>
              </a:rPr>
              <a:t>At 05:00 the useful signal is recent delay history, which a linear model uses as well as boosting does — and transfers better across seasons.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notebooks, one per person, following the course life cycle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920240"/>
            <a:ext cx="640080" cy="6400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Rishik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108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Problem, data, metric, split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9"/>
                </a:solidFill>
              </a:rPr>
              <a:t>Phases 1, 2, 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96896" y="2788920"/>
            <a:ext cx="201168" cy="274320"/>
          </a:xfrm>
          <a:prstGeom prst="chevron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173736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920240"/>
            <a:ext cx="640080" cy="6400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04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Praneeth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3108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EDA and preprocessing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9"/>
                </a:solidFill>
              </a:rPr>
              <a:t>Phases 3, 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82896" y="2788920"/>
            <a:ext cx="201168" cy="274320"/>
          </a:xfrm>
          <a:prstGeom prst="chevron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173736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1920240"/>
            <a:ext cx="640080" cy="6400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064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Srikar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3108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Features, selection, leakage test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9"/>
                </a:solidFill>
              </a:rPr>
              <a:t>Phase 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68896" y="2788920"/>
            <a:ext cx="201168" cy="274320"/>
          </a:xfrm>
          <a:prstGeom prst="chevron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173736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92440" y="1920240"/>
            <a:ext cx="640080" cy="6400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924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Sami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543800" y="3108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Baselines, GD from scratch, model selection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9"/>
                </a:solidFill>
              </a:rPr>
              <a:t>Phases 7, 8A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454896" y="2788920"/>
            <a:ext cx="201168" cy="274320"/>
          </a:xfrm>
          <a:prstGeom prst="chevron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92640" y="173736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78440" y="1920240"/>
            <a:ext cx="640080" cy="6400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3784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Mani Kanta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9829800" y="3108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Boosting: tuning, training, test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7840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9"/>
                </a:solidFill>
              </a:rPr>
              <a:t>Phases 8B, 8C, 9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4805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Each notebook writes its module to src/fdp/ and its numbers to reports/*.json.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The report and these slides are generated from those JSON files, so no number is typed by hand.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Every decision below is numbered (1–35); the full log with evidence is at the end of the deck.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yes/no question asked at 05:00, with only what is known then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· Rishik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336,776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699"/>
                </a:solidFill>
              </a:rPr>
              <a:t>scheduled flights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327,346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03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699"/>
                </a:solidFill>
              </a:rPr>
              <a:t>labelled flights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0.245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66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699"/>
                </a:solidFill>
              </a:rPr>
              <a:t>share delayed (≥15 min)</a:t>
            </a:r>
            <a:endParaRPr lang="en-US" sz="1400" dirty="0"/>
          </a:p>
        </p:txBody>
      </p:sp>
      <p:sp>
        <p:nvSpPr>
          <p:cNvPr id="11" name="decision 1"/>
          <p:cNvSpPr/>
          <p:nvPr/>
        </p:nvSpPr>
        <p:spPr>
          <a:xfrm>
            <a:off x="4937760" y="1371600"/>
            <a:ext cx="6720840" cy="1219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150876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749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596128" y="1499616"/>
            <a:ext cx="461772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Binary classification: delayed = arrives ≥15 min late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87000" y="15087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287000" y="1508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adopted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596128" y="2057400"/>
            <a:ext cx="594360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327,346 labelled flights, 0.245 delayed.</a:t>
            </a:r>
            <a:endParaRPr lang="en-US" sz="1200" dirty="0"/>
          </a:p>
        </p:txBody>
      </p:sp>
      <p:sp>
        <p:nvSpPr>
          <p:cNvPr id="18" name="decision 2"/>
          <p:cNvSpPr/>
          <p:nvPr/>
        </p:nvSpPr>
        <p:spPr>
          <a:xfrm>
            <a:off x="4937760" y="2755392"/>
            <a:ext cx="6720840" cy="1405128"/>
          </a:xfrm>
          <a:prstGeom prst="roundRect">
            <a:avLst>
              <a:gd name="adj" fmla="val 52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2892552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2892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596128" y="2883408"/>
            <a:ext cx="461772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Predict at 05:00 on day D; post-departure columns banned; history ends on D-1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287000" y="289255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87000" y="2892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worked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596128" y="3441192"/>
            <a:ext cx="594360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Leakage tests pass (2 passed in 7.08s); no post-departure column is a feature.</a:t>
            </a:r>
            <a:endParaRPr lang="en-US" sz="1200" dirty="0"/>
          </a:p>
        </p:txBody>
      </p:sp>
      <p:sp>
        <p:nvSpPr>
          <p:cNvPr id="25" name="decision 3"/>
          <p:cNvSpPr/>
          <p:nvPr/>
        </p:nvSpPr>
        <p:spPr>
          <a:xfrm>
            <a:off x="4937760" y="4325112"/>
            <a:ext cx="6720840" cy="1405128"/>
          </a:xfrm>
          <a:prstGeom prst="roundRect">
            <a:avLst>
              <a:gd name="adj" fmla="val 52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74920" y="4462272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74920" y="4462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596128" y="4453128"/>
            <a:ext cx="461772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Cancelled/diverted flights unlabelled but kept on the schedule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287000" y="446227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87000" y="44622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adopted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596128" y="5010912"/>
            <a:ext cx="594360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8,255 cancelled + 1,175 diverted excluded from training and scoring, counted in congestion features.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before model, and a split that follows time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· Rishik</a:t>
            </a:r>
            <a:endParaRPr lang="en-US" sz="1100" dirty="0"/>
          </a:p>
        </p:txBody>
      </p:sp>
      <p:pic>
        <p:nvPicPr>
          <p:cNvPr id="5" name="Image 0" descr="Monthly delay rate coloured by split b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303520" cy="2377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0233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0.863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accuracy of “always on time” in September — and zero delays caught. So: PR AUC, not accuracy.</a:t>
            </a:r>
            <a:endParaRPr lang="en-US" sz="4000" dirty="0"/>
          </a:p>
        </p:txBody>
      </p:sp>
      <p:sp>
        <p:nvSpPr>
          <p:cNvPr id="7" name="decision 4"/>
          <p:cNvSpPr/>
          <p:nvPr/>
        </p:nvSpPr>
        <p:spPr>
          <a:xfrm>
            <a:off x="6035040" y="1371600"/>
            <a:ext cx="5623560" cy="1405128"/>
          </a:xfrm>
          <a:prstGeom prst="roundRect">
            <a:avLst>
              <a:gd name="adj" fmla="val 52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72200" y="150876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722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4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693408" y="1499616"/>
            <a:ext cx="352044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Metric fixed before modelling: PR AUC (+ ROC AUC, Brier, ECE, lift)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287000" y="15087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287000" y="1508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worked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693408" y="2057400"/>
            <a:ext cx="484632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“Always on time” scores 0.863 accuracy in September with zero recall; random scores PR AUC ≈ base rate.</a:t>
            </a:r>
            <a:endParaRPr lang="en-US" sz="1200" dirty="0"/>
          </a:p>
        </p:txBody>
      </p:sp>
      <p:sp>
        <p:nvSpPr>
          <p:cNvPr id="14" name="decision 5"/>
          <p:cNvSpPr/>
          <p:nvPr/>
        </p:nvSpPr>
        <p:spPr>
          <a:xfrm>
            <a:off x="6035040" y="2941320"/>
            <a:ext cx="5623560" cy="1591056"/>
          </a:xfrm>
          <a:prstGeom prst="roundRect">
            <a:avLst>
              <a:gd name="adj" fmla="val 459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72200" y="307848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72200" y="3078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693408" y="3069336"/>
            <a:ext cx="3520440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Chronological split: warm-up Jan 1–14, train to Aug, valid Sep, calib Oct, test Nov–Dec (once)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0287000" y="30784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287000" y="3078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worked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693408" y="3811524"/>
            <a:ext cx="484632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Shares 65.2/8.6/9.1/17.1%. Monthly delay rate ranges 0.137 (Sep) to 0.336 (Dec): a base-rate shift that later drives the calibration and threshold results.</a:t>
            </a:r>
            <a:endParaRPr lang="en-US" sz="1200" dirty="0"/>
          </a:p>
        </p:txBody>
      </p:sp>
      <p:sp>
        <p:nvSpPr>
          <p:cNvPr id="21" name="decision 6"/>
          <p:cNvSpPr/>
          <p:nvPr/>
        </p:nvSpPr>
        <p:spPr>
          <a:xfrm>
            <a:off x="6035040" y="4696968"/>
            <a:ext cx="5623560" cy="1405128"/>
          </a:xfrm>
          <a:prstGeom prst="roundRect">
            <a:avLst>
              <a:gd name="adj" fmla="val 52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72200" y="4834128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72200" y="483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6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693408" y="4824984"/>
            <a:ext cx="352044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Confidence intervals by day-block bootstrap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0287000" y="483412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87000" y="48341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worked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693408" y="5382768"/>
            <a:ext cx="484632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Test CIs are about ±0.05 wide (LR [0.351, 0.459]), which is what makes the LR/boosting gap non-significant.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on training rows only: missing data is systematic, outliers are real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· Praneeth</a:t>
            </a:r>
            <a:endParaRPr lang="en-US" sz="1100" dirty="0"/>
          </a:p>
        </p:txBody>
      </p:sp>
      <p:pic>
        <p:nvPicPr>
          <p:cNvPr id="5" name="Image 0" descr="Delay rate by hour, carrier, weekday and origi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5486400" cy="3520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983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Delay rate climbs from 0.105 at 05:00 to 0.395 at 20:00: delays propagate through the day.</a:t>
            </a:r>
            <a:endParaRPr lang="en-US" sz="1400" dirty="0"/>
          </a:p>
        </p:txBody>
      </p:sp>
      <p:sp>
        <p:nvSpPr>
          <p:cNvPr id="7" name="decision 8"/>
          <p:cNvSpPr/>
          <p:nvPr/>
        </p:nvSpPr>
        <p:spPr>
          <a:xfrm>
            <a:off x="6309360" y="1371600"/>
            <a:ext cx="5349240" cy="1405128"/>
          </a:xfrm>
          <a:prstGeom prst="roundRect">
            <a:avLst>
              <a:gd name="adj" fmla="val 52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46520" y="150876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8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967728" y="1499616"/>
            <a:ext cx="3246120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Impute aircraft fields (median + missing indicator); do not delete rows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287000" y="15087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287000" y="1508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adopted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967728" y="2241804"/>
            <a:ext cx="4572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Indicator columns keep the “unknown aircraft” signal; no rows lost.</a:t>
            </a:r>
            <a:endParaRPr lang="en-US" sz="1200" dirty="0"/>
          </a:p>
        </p:txBody>
      </p:sp>
      <p:sp>
        <p:nvSpPr>
          <p:cNvPr id="14" name="decision 9"/>
          <p:cNvSpPr/>
          <p:nvPr/>
        </p:nvSpPr>
        <p:spPr>
          <a:xfrm>
            <a:off x="6309360" y="2941320"/>
            <a:ext cx="5349240" cy="1219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46520" y="307848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3078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9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967728" y="3069336"/>
            <a:ext cx="3246120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Keep delay outliers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0287000" y="30784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287000" y="3078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adopted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967728" y="3627120"/>
            <a:ext cx="457200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No rows removed.</a:t>
            </a:r>
            <a:endParaRPr lang="en-US" sz="1200" dirty="0"/>
          </a:p>
        </p:txBody>
      </p:sp>
      <p:sp>
        <p:nvSpPr>
          <p:cNvPr id="21" name="decision 10"/>
          <p:cNvSpPr/>
          <p:nvPr/>
        </p:nvSpPr>
        <p:spPr>
          <a:xfrm>
            <a:off x="6309360" y="4325112"/>
            <a:ext cx="5349240" cy="1219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46520" y="4462272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46520" y="4462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10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967728" y="4453128"/>
            <a:ext cx="3246120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Check duplicates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0287000" y="446227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87000" y="44622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 action needed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967728" y="5010912"/>
            <a:ext cx="457200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0 full and 0 key duplicates: nothing to remove.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Yesterday matters, last week does not — so we chose the history windows from the ACF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· Praneeth</a:t>
            </a:r>
            <a:endParaRPr lang="en-US" sz="1100" dirty="0"/>
          </a:p>
        </p:txBody>
      </p:sp>
      <p:pic>
        <p:nvPicPr>
          <p:cNvPr id="5" name="Image 0" descr="Daily delay rate, ACF and PAC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11064240" cy="2651760"/>
          </a:xfrm>
          <a:prstGeom prst="rect">
            <a:avLst/>
          </a:prstGeom>
        </p:spPr>
      </p:pic>
      <p:sp>
        <p:nvSpPr>
          <p:cNvPr id="6" name="decision 11"/>
          <p:cNvSpPr/>
          <p:nvPr/>
        </p:nvSpPr>
        <p:spPr>
          <a:xfrm>
            <a:off x="548640" y="41148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425196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11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207008" y="4242816"/>
            <a:ext cx="1463040" cy="1084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History windows chosen from ACF/PACF of the daily delay rate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0" y="42519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43200" y="4251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worked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207008" y="5418836"/>
            <a:ext cx="2788920" cy="771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In notebook 03 the history group raised September PR AUC from 0.209 to 0.261.</a:t>
            </a:r>
            <a:endParaRPr lang="en-US" sz="1200" dirty="0"/>
          </a:p>
        </p:txBody>
      </p:sp>
      <p:sp>
        <p:nvSpPr>
          <p:cNvPr id="13" name="decision 12"/>
          <p:cNvSpPr/>
          <p:nvPr/>
        </p:nvSpPr>
        <p:spPr>
          <a:xfrm>
            <a:off x="4297680" y="41148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425196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3484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12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956048" y="4242816"/>
            <a:ext cx="146304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No SMOTE / re-sampling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92240" y="42519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92240" y="4251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worked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956048" y="4800600"/>
            <a:ext cx="27889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LR's raw test probabilities were already well calibrated (ECE 0.029).</a:t>
            </a:r>
            <a:endParaRPr lang="en-US" sz="1200" dirty="0"/>
          </a:p>
        </p:txBody>
      </p:sp>
      <p:sp>
        <p:nvSpPr>
          <p:cNvPr id="20" name="decision 13"/>
          <p:cNvSpPr/>
          <p:nvPr/>
        </p:nvSpPr>
        <p:spPr>
          <a:xfrm>
            <a:off x="8046720" y="41148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83880" y="425196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8388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13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705088" y="4242816"/>
            <a:ext cx="1463040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Standard (z-score) scaler for the linear model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241280" y="42519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241280" y="4251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705088" y="5201920"/>
            <a:ext cx="2788920" cy="98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September PR AUC 0.1974 vs 0.1978: a tie, standard kept.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feature groups, all known at 05:00 — and a test that proves it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· Srikar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2588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6692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rate = (k + α·prior) / (n + α),  α = 10   ·   windows end on day D−1 (.rolling().sum().shift(1))</a:t>
            </a:r>
            <a:endParaRPr lang="en-US" sz="1200" dirty="0"/>
          </a:p>
        </p:txBody>
      </p:sp>
      <p:sp>
        <p:nvSpPr>
          <p:cNvPr id="7" name="decision 15"/>
          <p:cNvSpPr/>
          <p:nvPr/>
        </p:nvSpPr>
        <p:spPr>
          <a:xfrm>
            <a:off x="6492240" y="1371600"/>
            <a:ext cx="5166360" cy="1591056"/>
          </a:xfrm>
          <a:prstGeom prst="roundRect">
            <a:avLst>
              <a:gd name="adj" fmla="val 459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29400" y="150876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15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150608" y="1499616"/>
            <a:ext cx="306324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Five feature groups, 41 numeric + 3 categorical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287000" y="15087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287000" y="1508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worked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150608" y="2057400"/>
            <a:ext cx="4389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LR with all five groups is best on both months (Sep 0.261, Oct 0.306). History adds +0.052 in Sep but only +0.002 in Oct.</a:t>
            </a:r>
            <a:endParaRPr lang="en-US" sz="1200" dirty="0"/>
          </a:p>
        </p:txBody>
      </p:sp>
      <p:sp>
        <p:nvSpPr>
          <p:cNvPr id="14" name="decision 16"/>
          <p:cNvSpPr/>
          <p:nvPr/>
        </p:nvSpPr>
        <p:spPr>
          <a:xfrm>
            <a:off x="6492240" y="3127248"/>
            <a:ext cx="5166360" cy="1405128"/>
          </a:xfrm>
          <a:prstGeom prst="roundRect">
            <a:avLst>
              <a:gd name="adj" fmla="val 52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29400" y="3264408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29400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16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150608" y="3255264"/>
            <a:ext cx="306324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Shrink history rates towards the overall rate (α = 10)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0287000" y="326440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287000" y="32644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adopted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150608" y="3813048"/>
            <a:ext cx="438912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Small groups pulled to the mean; log-volume features say how much evidence a rate rests on.</a:t>
            </a:r>
            <a:endParaRPr lang="en-US" sz="1200" dirty="0"/>
          </a:p>
        </p:txBody>
      </p:sp>
      <p:sp>
        <p:nvSpPr>
          <p:cNvPr id="21" name="decision 17"/>
          <p:cNvSpPr/>
          <p:nvPr/>
        </p:nvSpPr>
        <p:spPr>
          <a:xfrm>
            <a:off x="6492240" y="4696968"/>
            <a:ext cx="5166360" cy="1405128"/>
          </a:xfrm>
          <a:prstGeom prst="roundRect">
            <a:avLst>
              <a:gd name="adj" fmla="val 52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29400" y="4834128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29400" y="483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17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150608" y="4824984"/>
            <a:ext cx="306324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No month or day-of-year feature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0287000" y="483412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87000" y="48341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adopted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150608" y="5382768"/>
            <a:ext cx="438912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Seasonality enters only through history features (see drift, notebook 05).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selection method beat “all features” on both months, so we kept all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· Srikar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2588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decision 18"/>
          <p:cNvSpPr/>
          <p:nvPr/>
        </p:nvSpPr>
        <p:spPr>
          <a:xfrm>
            <a:off x="7589520" y="1371600"/>
            <a:ext cx="4069080" cy="1772920"/>
          </a:xfrm>
          <a:prstGeom prst="roundRect">
            <a:avLst>
              <a:gd name="adj" fmla="val 412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26680" y="150876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266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18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47888" y="1499616"/>
            <a:ext cx="1965960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Keep all features unless a method beats them on both September and October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287000" y="15087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87000" y="1508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 features kept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247888" y="2458720"/>
            <a:ext cx="3291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None passed. SFS: Sep 0.279 &gt; 0.261 but Oct 0.281 &lt; 0.306: it over-fitted the month it was selected on.</a:t>
            </a:r>
            <a:endParaRPr lang="en-US" sz="1200" dirty="0"/>
          </a:p>
        </p:txBody>
      </p:sp>
      <p:sp>
        <p:nvSpPr>
          <p:cNvPr id="13" name="decision 19"/>
          <p:cNvSpPr/>
          <p:nvPr/>
        </p:nvSpPr>
        <p:spPr>
          <a:xfrm>
            <a:off x="7589520" y="3309112"/>
            <a:ext cx="4069080" cy="1405128"/>
          </a:xfrm>
          <a:prstGeom prst="roundRect">
            <a:avLst>
              <a:gd name="adj" fmla="val 52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26680" y="3446272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26680" y="344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19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47888" y="3437128"/>
            <a:ext cx="19659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Report VIF but keep collinear features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0287000" y="344627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287000" y="34462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worked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247888" y="3994912"/>
            <a:ext cx="329184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Pruning 7 features lowered both months (0.256 / 0.302).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floor: a planner's rule, and logistic regression written from scratch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· Sami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25880"/>
          <a:ext cx="45720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6" name="Image 0" descr="Training log loss by learning rat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3886200"/>
            <a:ext cx="4572000" cy="2423160"/>
          </a:xfrm>
          <a:prstGeom prst="rect">
            <a:avLst/>
          </a:prstGeom>
        </p:spPr>
      </p:pic>
      <p:sp>
        <p:nvSpPr>
          <p:cNvPr id="7" name="decision 20"/>
          <p:cNvSpPr/>
          <p:nvPr/>
        </p:nvSpPr>
        <p:spPr>
          <a:xfrm>
            <a:off x="5394960" y="1371600"/>
            <a:ext cx="6263640" cy="1405128"/>
          </a:xfrm>
          <a:prstGeom prst="roundRect">
            <a:avLst>
              <a:gd name="adj" fmla="val 52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532120" y="150876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5321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20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053328" y="1499616"/>
            <a:ext cx="4160520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Baselines before any learned model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0287000" y="15087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287000" y="1508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floor set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6053328" y="2057400"/>
            <a:ext cx="548640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Sep / Oct PR AUC: majority 0.137 / 0.176; flight's 28-day rate 0.190 / 0.269; scheduled hour 0.188 / 0.229.</a:t>
            </a:r>
            <a:endParaRPr lang="en-US" sz="1200" dirty="0"/>
          </a:p>
        </p:txBody>
      </p:sp>
      <p:sp>
        <p:nvSpPr>
          <p:cNvPr id="14" name="decision 21"/>
          <p:cNvSpPr/>
          <p:nvPr/>
        </p:nvSpPr>
        <p:spPr>
          <a:xfrm>
            <a:off x="5394960" y="2941320"/>
            <a:ext cx="6263640" cy="1405128"/>
          </a:xfrm>
          <a:prstGeom prst="roundRect">
            <a:avLst>
              <a:gd name="adj" fmla="val 52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532120" y="307848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532120" y="3078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21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053328" y="3069336"/>
            <a:ext cx="4160520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Logistic regression from scratch (batch, mini-batch, SGD), checked against scikit-learn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10287000" y="30784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287000" y="3078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verified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053328" y="3811524"/>
            <a:ext cx="54864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Batch GD train log loss 0.5279 vs scikit-learn 0.5278; mini-batch 0.5282 in 5 epochs.</a:t>
            </a:r>
            <a:endParaRPr lang="en-US" sz="1200" dirty="0"/>
          </a:p>
        </p:txBody>
      </p:sp>
      <p:sp>
        <p:nvSpPr>
          <p:cNvPr id="21" name="decision 22"/>
          <p:cNvSpPr/>
          <p:nvPr/>
        </p:nvSpPr>
        <p:spPr>
          <a:xfrm>
            <a:off x="5394960" y="4511040"/>
            <a:ext cx="6263640" cy="1405128"/>
          </a:xfrm>
          <a:prstGeom prst="roundRect">
            <a:avLst>
              <a:gd name="adj" fmla="val 52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532120" y="464820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532120" y="4648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22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053328" y="4639056"/>
            <a:ext cx="4160520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Learning-rate sweep for batch GD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10287000" y="46482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287000" y="4648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 expected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6053328" y="5196840"/>
            <a:ext cx="548640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lr 0.01 → 0.6195 after 100 epochs (slow); 0.5 → 0.5282 (best); 8 → 2.3942 (diverged).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families on rolling months: logistic regression led, untuned boosting was third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· Sami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25880"/>
          <a:ext cx="6583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54880"/>
          <a:ext cx="65836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188720"/>
                <a:gridCol w="1188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(untuned)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ecision 24"/>
          <p:cNvSpPr/>
          <p:nvPr/>
        </p:nvSpPr>
        <p:spPr>
          <a:xfrm>
            <a:off x="7406640" y="1371600"/>
            <a:ext cx="4251960" cy="1405128"/>
          </a:xfrm>
          <a:prstGeom prst="roundRect">
            <a:avLst>
              <a:gd name="adj" fmla="val 52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543800" y="150876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5438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24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065008" y="1499616"/>
            <a:ext cx="214884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Decision-tree depth sweep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0287000" y="15087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287000" y="1508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 expected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8065008" y="2057400"/>
            <a:ext cx="347472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Unlimited depth: train 1.000, Sep 0.140; best Sep at depth 2 (0.180).</a:t>
            </a:r>
            <a:endParaRPr lang="en-US" sz="1200" dirty="0"/>
          </a:p>
        </p:txBody>
      </p:sp>
      <p:sp>
        <p:nvSpPr>
          <p:cNvPr id="14" name="decision 25"/>
          <p:cNvSpPr/>
          <p:nvPr/>
        </p:nvSpPr>
        <p:spPr>
          <a:xfrm>
            <a:off x="7406640" y="2941320"/>
            <a:ext cx="4251960" cy="1958848"/>
          </a:xfrm>
          <a:prstGeom prst="roundRect">
            <a:avLst>
              <a:gd name="adj" fmla="val 373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43800" y="307848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543800" y="3078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25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065008" y="3069336"/>
            <a:ext cx="2148840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Compare families on rolling Jul/Aug/Sep with fixed configurations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10287000" y="30784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287000" y="3078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LR leads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8065008" y="4028440"/>
            <a:ext cx="347472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Mean PR AUC: LR 0.408 &gt; random forest 0.386 &gt; untuned XGBoost 0.366 &gt; tree 0.328. LR is the model to beat; boosting goes on to tuning.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found an early-stopping trap that inflates boosting's score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· Mani Kanta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2588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669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1F3A"/>
                </a:solidFill>
              </a:rPr>
              <a:t>+0.020 of the optimistic mean came from the stopping rule seeing the answers.</a:t>
            </a:r>
            <a:endParaRPr lang="en-US" sz="1400" dirty="0"/>
          </a:p>
        </p:txBody>
      </p:sp>
      <p:sp>
        <p:nvSpPr>
          <p:cNvPr id="7" name="decision 26"/>
          <p:cNvSpPr/>
          <p:nvPr/>
        </p:nvSpPr>
        <p:spPr>
          <a:xfrm>
            <a:off x="6858000" y="1371600"/>
            <a:ext cx="4800600" cy="1405128"/>
          </a:xfrm>
          <a:prstGeom prst="roundRect">
            <a:avLst>
              <a:gd name="adj" fmla="val 52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95160" y="150876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951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26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516368" y="1499616"/>
            <a:ext cx="2697480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Gradient boosting from scratch, checked against scikit-learn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287000" y="15087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287000" y="1508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verified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516368" y="2241804"/>
            <a:ext cx="40233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September log loss 0.4165 and PR AUC 0.208, identical to scikit-learn.</a:t>
            </a:r>
            <a:endParaRPr lang="en-US" sz="1200" dirty="0"/>
          </a:p>
        </p:txBody>
      </p:sp>
      <p:sp>
        <p:nvSpPr>
          <p:cNvPr id="14" name="decision 27"/>
          <p:cNvSpPr/>
          <p:nvPr/>
        </p:nvSpPr>
        <p:spPr>
          <a:xfrm>
            <a:off x="6858000" y="2941320"/>
            <a:ext cx="4800600" cy="1405128"/>
          </a:xfrm>
          <a:prstGeom prst="roundRect">
            <a:avLst>
              <a:gd name="adj" fmla="val 52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95160" y="307848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95160" y="3078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27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516368" y="3069336"/>
            <a:ext cx="2697480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Honest early stopping: stop on month m-1, refit, score m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0287000" y="30784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287000" y="3078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trap found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516368" y="3811524"/>
            <a:ext cx="40233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Same configuration: optimistic mean 0.402 vs honest 0.382 (+0.020 inflation avoided).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Tuned boosting stayed below logistic regression; the hybrid caught up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· Mani Kanta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035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822960"/>
                <a:gridCol w="82296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PR 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(tuned)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Hybrid: boosting from LR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1546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Trees chosen by early stopping, per fold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11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Boosting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783080" y="361188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783080" y="3611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40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926080" y="361188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26080" y="3611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110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069080" y="361188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69080" y="3611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13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5B00"/>
                </a:solidFill>
              </a:rPr>
              <a:t>median → 40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480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Hybrid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783080" y="448056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783080" y="4480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16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2926080" y="448056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926080" y="4480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1219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069080" y="448056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069080" y="4480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15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303520" y="4480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5B00"/>
                </a:solidFill>
              </a:rPr>
              <a:t>median → 16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440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September alone would stop at 1 tree.</a:t>
            </a:r>
            <a:endParaRPr lang="en-US" sz="1300" dirty="0"/>
          </a:p>
        </p:txBody>
      </p:sp>
      <p:sp>
        <p:nvSpPr>
          <p:cNvPr id="24" name="decision 28"/>
          <p:cNvSpPr/>
          <p:nvPr/>
        </p:nvSpPr>
        <p:spPr>
          <a:xfrm>
            <a:off x="6858000" y="1371600"/>
            <a:ext cx="4800600" cy="1591056"/>
          </a:xfrm>
          <a:prstGeom prst="roundRect">
            <a:avLst>
              <a:gd name="adj" fmla="val 459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995160" y="150876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951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28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516368" y="1499616"/>
            <a:ext cx="2697480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Random search, 8 of 288 XGBoost configurations, honest rolling score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0287000" y="15087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287000" y="1508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boosting behind LR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516368" y="2241804"/>
            <a:ext cx="4023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Best: lr 0.03, depth 3, min child weight 50, subsample 0.7, colsample 0.5, λ 1.0 → 0.386. All 8 lie in 0.376–0.386, below LR (0.409).</a:t>
            </a:r>
            <a:endParaRPr lang="en-US" sz="1200" dirty="0"/>
          </a:p>
        </p:txBody>
      </p:sp>
      <p:sp>
        <p:nvSpPr>
          <p:cNvPr id="31" name="decision 29"/>
          <p:cNvSpPr/>
          <p:nvPr/>
        </p:nvSpPr>
        <p:spPr>
          <a:xfrm>
            <a:off x="6858000" y="3127248"/>
            <a:ext cx="4800600" cy="1405128"/>
          </a:xfrm>
          <a:prstGeom prst="roundRect">
            <a:avLst>
              <a:gd name="adj" fmla="val 52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95160" y="3264408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995160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29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7516368" y="3255264"/>
            <a:ext cx="2697480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Hybrid: XGBoost starts from LR's logit (base_margin) and learns corrections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0287000" y="326440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287000" y="32644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matches LR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7516368" y="3997452"/>
            <a:ext cx="40233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Rolling mean 0.406 (LR 0.409, boosting 0.386); trees per fold [16, 1219, 15].</a:t>
            </a:r>
            <a:endParaRPr lang="en-US" sz="1200" dirty="0"/>
          </a:p>
        </p:txBody>
      </p:sp>
      <p:sp>
        <p:nvSpPr>
          <p:cNvPr id="38" name="decision 30"/>
          <p:cNvSpPr/>
          <p:nvPr/>
        </p:nvSpPr>
        <p:spPr>
          <a:xfrm>
            <a:off x="6858000" y="4696968"/>
            <a:ext cx="4800600" cy="1405128"/>
          </a:xfrm>
          <a:prstGeom prst="roundRect">
            <a:avLst>
              <a:gd name="adj" fmla="val 52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995160" y="4834128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995160" y="483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30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7516368" y="4824984"/>
            <a:ext cx="269748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Final tree count = median of the fold counts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10287000" y="483412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0287000" y="48341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worked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7516368" y="5382768"/>
            <a:ext cx="402336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Boosting folds [40, 110, 13] → 40 trees; hybrid → 16; September alone would pick 1.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exam: test months scored once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· Mani Kanta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280160"/>
                <a:gridCol w="2011680"/>
                <a:gridCol w="1280160"/>
                <a:gridCol w="1005840"/>
                <a:gridCol w="2103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 raw → Platt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Rule: flight's 28-day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[0.351, 0.459]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0.029 → 0.035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[0.336, 0.451]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0.034 → 0.023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(boosting from LR)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[0.352, 0.458]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 → 0.032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Test precision-recall curves and reliability diagra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703320"/>
            <a:ext cx="5486400" cy="2606040"/>
          </a:xfrm>
          <a:prstGeom prst="rect">
            <a:avLst/>
          </a:prstGeom>
        </p:spPr>
      </p:pic>
      <p:sp>
        <p:nvSpPr>
          <p:cNvPr id="7" name="decision 32"/>
          <p:cNvSpPr/>
          <p:nvPr/>
        </p:nvSpPr>
        <p:spPr>
          <a:xfrm>
            <a:off x="6217920" y="3794760"/>
            <a:ext cx="5440680" cy="1591056"/>
          </a:xfrm>
          <a:prstGeom prst="roundRect">
            <a:avLst>
              <a:gd name="adj" fmla="val 459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355080" y="393192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55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32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876288" y="3922776"/>
            <a:ext cx="33375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Test set (Nov–Dec) scored once, all models together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0287000" y="393192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287000" y="3931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 winner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6876288" y="4480560"/>
            <a:ext cx="4663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PR AUC: hybrid 0.403, LR 0.403, boosting 0.390, rule 0.369, majority 0.258. Intervals overlap: no winner among learned models.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planners: a flag list where about half the flags are real delays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· Mani Kanta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05840"/>
                <a:gridCol w="1463040"/>
                <a:gridCol w="146304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/ 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Really delayed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 October 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(b) calibrated p &gt;= 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 October 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(b) calibrated p &gt;= 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 October 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(b) calibrated p &gt;= 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cision 33"/>
          <p:cNvSpPr/>
          <p:nvPr/>
        </p:nvSpPr>
        <p:spPr>
          <a:xfrm>
            <a:off x="548640" y="393192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406908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33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207008" y="4059936"/>
            <a:ext cx="3383280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Flag policy: calibrated p ≥ 0.5 instead of the October score threshold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40690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4069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rule (b) chosen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207008" y="4802124"/>
            <a:ext cx="4709160" cy="1388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October threshold: precision 0.538–0.547, recall 0.053–0.056, 25–26 flagged per 1000. Calibrated rule: precision 0.517–0.529, recall 0.085–0.097, 42–49 flagged, about 2× a random list.</a:t>
            </a:r>
            <a:endParaRPr lang="en-US" sz="1200" dirty="0"/>
          </a:p>
        </p:txBody>
      </p:sp>
      <p:sp>
        <p:nvSpPr>
          <p:cNvPr id="13" name="decision 31"/>
          <p:cNvSpPr/>
          <p:nvPr/>
        </p:nvSpPr>
        <p:spPr>
          <a:xfrm>
            <a:off x="6217920" y="39319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55080" y="406908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5508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31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876288" y="4059936"/>
            <a:ext cx="33375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Refit on Jan 15–Sep 30; Platt-calibrate on October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0287000" y="40690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287000" y="4069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mixed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876288" y="4617720"/>
            <a:ext cx="4663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Boosting ECE 0.034 → 0.023 (better); LR 0.029 → 0.035 and hybrid 0.028 → 0.032 (worse: already calibrated, then October's lower base rate pulled them).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boosting gains little: tree thresholds learned in summer drift in autumn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· Mani Kanta</a:t>
            </a:r>
            <a:endParaRPr lang="en-US" sz="1100" dirty="0"/>
          </a:p>
        </p:txBody>
      </p:sp>
      <p:pic>
        <p:nvPicPr>
          <p:cNvPr id="5" name="Image 0" descr="XGBoost gain and permutation importance on Octob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6035040" cy="2286000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548640" y="3657600"/>
          <a:ext cx="60350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decision 34"/>
          <p:cNvSpPr/>
          <p:nvPr/>
        </p:nvSpPr>
        <p:spPr>
          <a:xfrm>
            <a:off x="6858000" y="1371600"/>
            <a:ext cx="4800600" cy="1591056"/>
          </a:xfrm>
          <a:prstGeom prst="roundRect">
            <a:avLst>
              <a:gd name="adj" fmla="val 459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995160" y="150876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9951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34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516368" y="1499616"/>
            <a:ext cx="269748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Importance and ablation on October, never on test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0287000" y="15087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287000" y="1508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drift found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516368" y="2057400"/>
            <a:ext cx="40233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Permutation: sched_hour 0.01726, h_flight_28d_rate 0.01424. Ablation: peak 0.303 with schedule+calendar+aircraft; + congestion 0.291; + history 0.264.</a:t>
            </a:r>
            <a:endParaRPr lang="en-US" sz="1200" dirty="0"/>
          </a:p>
        </p:txBody>
      </p:sp>
      <p:sp>
        <p:nvSpPr>
          <p:cNvPr id="14" name="decision 35"/>
          <p:cNvSpPr/>
          <p:nvPr/>
        </p:nvSpPr>
        <p:spPr>
          <a:xfrm>
            <a:off x="6858000" y="3127248"/>
            <a:ext cx="4800600" cy="1591056"/>
          </a:xfrm>
          <a:prstGeom prst="roundRect">
            <a:avLst>
              <a:gd name="adj" fmla="val 459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95160" y="3264408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95160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35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516368" y="3255264"/>
            <a:ext cx="269748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Error analysis by month and airport (lift)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10287000" y="326440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287000" y="32644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boosting weaker in Nov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7516368" y="3813048"/>
            <a:ext cx="40233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Boosting is weakest in November (lift 1.38 vs LR 1.58) and at JFK (1.44 vs 1.54); December is hard for all (about 1.35).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decisions: what worked, what we found, what we would revisit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Worked / verified · 26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1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Binary classification: delayed = …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12848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2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Predict at 05:00 on day D; …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59736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3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Cancelled/diverted flights unlabelled …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06624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4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Metric fixed before modelling: PR AUC …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953512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5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Chronological split: warm-up Jan …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00400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6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Confidence intervals by day-block …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47288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7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EDA and every preprocessing statistic …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94176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8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Impute aircraft fields (median + …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41064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9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Keep delay outliers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87952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11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History windows chosen from ACF/PACF …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34840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12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No SMOTE / re-sampling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681728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14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One-hot for linear models, ordinal …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928616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15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Five feature groups, 41 numeric + 3 …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086100" y="1965960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16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Shrink history rates towards the …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086100" y="2212848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17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No month or day-of-year feature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086100" y="2459736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18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Keep all features unless a method …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086100" y="2706624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19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Report VIF but keep collinear features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086100" y="2953512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20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Baselines before any learned model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086100" y="3200400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21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Logistic regression from scratch …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086100" y="3447288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22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Learning-rate sweep for batch GD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086100" y="3694176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23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Choose L2 strength C on September only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086100" y="3941064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24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Decision-tree depth sweep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086100" y="4187952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26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Gradient boosting from scratch, …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086100" y="4434840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27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Honest early stopping: stop on month …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086100" y="4681728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30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Final tree count = median of the fold …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086100" y="4928616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33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Flag policy: calibrated p ≥ 0.5 …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137160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Findings · 5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0" y="196596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5B00"/>
                </a:solidFill>
              </a:rPr>
              <a:t>28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Random search, 8 of 288 XGBoost …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221284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5B00"/>
                </a:solidFill>
              </a:rPr>
              <a:t>31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Refit on Jan 15–Sep 30; …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0" y="2459736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5B00"/>
                </a:solidFill>
              </a:rPr>
              <a:t>32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Test set (Nov–Dec) scored once, all …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0" y="270662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5B00"/>
                </a:solidFill>
              </a:rPr>
              <a:t>34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Importance and ablation on October, …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0" y="295351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5B00"/>
                </a:solidFill>
              </a:rPr>
              <a:t>35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Error analysis by month and airport …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144000" y="13716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4400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Ties / neutral · 4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9144000" y="196596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82"/>
                </a:solidFill>
              </a:rPr>
              <a:t>10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Check duplicates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9144000" y="221284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82"/>
                </a:solidFill>
              </a:rPr>
              <a:t>13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Standard (z-score) scaler for the …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144000" y="245973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82"/>
                </a:solidFill>
              </a:rPr>
              <a:t>25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Compare families on rolling …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9144000" y="270662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82"/>
                </a:solidFill>
              </a:rPr>
              <a:t>29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Hybrid: XGBoost starts from LR's …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 (1–9 of 35)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Appendix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57200"/>
                <a:gridCol w="3017520"/>
                <a:gridCol w="603504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classification: delayed = arrives ≥15 min 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327,346 labelled flights, 0.245 delayed.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at 05:00 on day D; post-departure columns banned; history ends on D-1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 tests pass (2 passed in 7.08s); no post-departure column is a feature.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Cancelled/diverted flights unlabelled but kept on the 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8,255 cancelled + 1,175 diverted excluded from training and scoring, counted in congestion features.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fixed before modelling: PR AUC (+ ROC AUC, Brier, ECE, lift)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“Always on time” scores 0.863 accuracy in September with zero recall; random scores PR AUC ≈ base rate.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Chronological split: warm-up Jan 1–14, train to Aug, valid Sep, calib Oct, test Nov–Dec (once)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65.2/8.6/9.1/17.1%. Monthly delay rate ranges 0.137 (Sep) to 0.336 (Dec): a base-rate shift that later drives the calibration and threshold results.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intervals by day-block bootstrap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CIs are about ±0.05 wide (LR [0.351, 0.459]), which is what makes the LR/boosting gap non-significant.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 and every preprocessing statistic on training rows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Pipelines fitted on train; imputer median of plane age (11.0) is the training median.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Impute aircraft fields (median + missing indicator); do not delete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 columns keep the “unknown aircraft” signal; no rows lost.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delay outliers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rows removed.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 (10–18 of 35)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Appendix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57200"/>
                <a:gridCol w="3017520"/>
                <a:gridCol w="603504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duplicates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full and 0 key duplicates: nothing to remove.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action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windows chosen from ACF/PACF of the daily delay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notebook 03 the history group raised September PR AUC from 0.209 to 0.261.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SMOTE / re-sampling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LR's raw test probabilities were already well calibrated (ECE 0.029).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(z-score) scaler for the linear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September PR AUC 0.1974 vs 0.1978: a tie, standard kept.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for linear models, ordinal codes for trees, native categoricals in 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validation matrix: 120 columns.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feature groups, 41 numeric + 3 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with all five groups is best on both months (Sep 0.261, Oct 0.306). History adds +0.052 in Sep but only +0.002 in Oct.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 history rates towards the overall rate (α = 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groups pulled to the mean; log-volume features say how much evidence a rate rests 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month or day-of-year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Seasonality enters only through history features (see drift, notebook 05).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all features unless a method beats them on both September and October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passed. SFS: Sep 0.279 &gt; 0.261 but Oct 0.281 &lt; 0.306: it over-fitted the month it was selected 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features kept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 (19–27 of 35)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Appendix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57200"/>
                <a:gridCol w="3017520"/>
                <a:gridCol w="603504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VIF but keep collinear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Pruning 7 features lowered both months (0.256 / 0.302).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 before any learned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/ Oct PR AUC: majority 0.137 / 0.176; flight's 28-day rate 0.190 / 0.269; scheduled hour 0.188 / 0.229.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from scratch (batch, mini-batch, SGD), checked against scikit-learn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GD train log loss 0.5279 vs scikit-learn 0.5278; mini-batch 0.5282 in 5 epochs.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Learning-rate sweep for batch GD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0.01 → 0.6195 after 100 epochs (slow); 0.5 → 0.5282 (best); 8 → 2.3942 (diverged).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expected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L2 strength C on September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0.001 (Sep 0.2655); scores barely move with C, so LR is bias-limited, not variance-limited.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Decision-tree depth sweep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 depth: train 1.000, Sep 0.140; best Sep at depth 2 (0.180).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expected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families on rolling Jul/Aug/Sep with fixed configurations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PR AUC: LR 0.408 &gt; random forest 0.386 &gt; untuned XGBoost 0.366 &gt; tree 0.328. LR is the model to beat; boosting goes on to tuning.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leads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from scratch, checked against scikit-learn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September log loss 0.4165 and PR AUC 0.208, identical to scikit-learn.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 early stopping: stop on month m-1, refit, score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configuration: optimistic mean 0.402 vs honest 0.382 (+0.020 inflation avoided).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trap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 (28–35 of 35)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Appendix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57200"/>
                <a:gridCol w="3017520"/>
                <a:gridCol w="603504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search, 8 of 288 XGBoost configurations, honest rolling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Best: lr 0.03, depth 3, min child weight 50, subsample 0.7, colsample 0.5, λ 1.0 → 0.386. All 8 lie in 0.376–0.386, below LR (0.409).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 behind 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Hybrid: XGBoost starts from LR's logit (base_margin) and learns corrections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mean 0.406 (LR 0.409, boosting 0.386); trees per fold [16, 1219, 15].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tree count = median of the fold 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 folds [40, 110, 13] → 40 trees; hybrid → 16; September alone would pick 1.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Refit on Jan 15–Sep 30; Platt-calibrate on October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 ECE 0.034 → 0.023 (better); LR 0.029 → 0.035 and hybrid 0.028 → 0.032 (worse: already calibrated, then October's lower base rate pulled them).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 (Nov–Dec) scored once, all models together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AUC: hybrid 0.403, LR 0.403, boosting 0.390, rule 0.369, majority 0.258. Intervals overlap: no winner among learned models.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winner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policy: calibrated p ≥ 0.5 instead of the October score 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October threshold: precision 0.538–0.547, recall 0.053–0.056, 25–26 flagged per 1000. Calibrated rule: precision 0.517–0.529, recall 0.085–0.097, 42–49 flagged, about 2× a random list.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(b) chosen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 and ablation on October, never on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Permutation: sched_hour 0.01726, h_flight_28d_rate 0.01424. Ablation: peak 0.303 with schedule+calendar+aircraft; + congestion 0.291; + history 0.264.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analysis by month and airport (lift)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 is weakest in November (lift 1.38 vs LR 1.58) and at JFK (1.44 vs 1.54); December is hard for all (about 1.35).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 weaker in Nov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flag before anyone else does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554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Small selection optimism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1031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C = 0.001 was picked on September and reused in the rolling comparison whose September fold is the same month (0.266 vs 0.262 with C = 1). Boosting's configuration was also picked on the folds it is reported on. The test set is unaffected.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554480"/>
            <a:ext cx="411480" cy="411480"/>
          </a:xfrm>
          <a:prstGeom prst="ellipse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1554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Small search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1031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8 configurations were tried; their spread was only 0.010, so a larger search is unlikely to close a 0.023 gap, but this is untested.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977640"/>
            <a:ext cx="411480" cy="411480"/>
          </a:xfrm>
          <a:prstGeom prst="ellipse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77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Unstable hybrid fold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5262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The hybrid's August fold stopped at 1219 trees against 16 and 15; the median rule absorbs it.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379476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3977640"/>
            <a:ext cx="411480" cy="411480"/>
          </a:xfrm>
          <a:prstGeom prst="ellipse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977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One month, one year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45262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Ablation uses October only and a fixed tree count; one year of data cannot separate season from trend.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05:00, boosting does not beat a well-tuned linear model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learned models beat the planner's rule (0.369) and random (0.258); their test intervals overlap.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tuning mattered: the early-stopping shortcut would have overstated boosting.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drift-robust (relative) history features, weather forecasts known at 05:00, more years of data, temporal deep learning.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Contributions</a:t>
            </a:r>
            <a:endParaRPr lang="en-US" sz="2800" dirty="0"/>
          </a:p>
        </p:txBody>
      </p:sp>
      <p:sp>
        <p:nvSpPr>
          <p:cNvPr id="3" name="owner pill"/>
          <p:cNvSpPr/>
          <p:nvPr/>
        </p:nvSpPr>
        <p:spPr>
          <a:xfrm>
            <a:off x="10012680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1268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4173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Rishik Chowdary Karuturi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4173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99"/>
                </a:solidFill>
              </a:rPr>
              <a:t>2401010381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4173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01 · Problem, data, metrics, split; report and slides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487168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35000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Nakkina Lakshmi Praneeth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35000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99"/>
                </a:solidFill>
              </a:rPr>
              <a:t>2401010288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235000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02 · EDA, preprocessing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28269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419856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28269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Balanagu Sesha Srikar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3282696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99"/>
                </a:solidFill>
              </a:rPr>
              <a:t>2401010124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28269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03 · Features, selection, leakage test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21538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352544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352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21538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Shaik Junaid Sami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4215384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99"/>
                </a:solidFill>
              </a:rPr>
              <a:t>2401010435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4215384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04 · Baselines, gradient descent, model selection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14807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285232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5285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463040" y="514807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Siraparapu Shiva Sankar Mani Kanta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514807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99"/>
                </a:solidFill>
              </a:rPr>
              <a:t>2401010457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514807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05 · Gradient boosting, tuning, evaluation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T107 Phase 1: Flight delay prediction at 05:00</dc:title>
  <dc:subject>PptxGenJS Presentation</dc:subject>
  <dc:creator>Team T107</dc:creator>
  <cp:lastModifiedBy>Team T107</cp:lastModifiedBy>
  <cp:revision>1</cp:revision>
  <dcterms:created xsi:type="dcterms:W3CDTF">2026-10-26T03:56:23Z</dcterms:created>
  <dcterms:modified xsi:type="dcterms:W3CDTF">2026-10-26T03:56:23Z</dcterms:modified>
</cp:coreProperties>
</file>